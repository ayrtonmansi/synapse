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D2D32"/>
                </a:solidFill>
                <a:latin typeface="Helvetica Neue"/>
              </a:defRPr>
            </a:pPr>
            <a:r>
              <a:t>MINERALX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E7D"/>
                </a:solidFill>
                <a:latin typeface="Helvetica Neue"/>
              </a:defRPr>
            </a:pPr>
            <a:r>
              <a:t>Integrated Mining &amp; Processing Platform</a:t>
            </a:r>
            <a:br/>
            <a:r>
              <a:t>Strategic Fund Vision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9C3"/>
                </a:solidFill>
                <a:latin typeface="Helvetica Neue"/>
              </a:defRPr>
            </a:pPr>
            <a:r>
              <a:t>CONFIDENTIAL | FEBRUARY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Precious metals demand is surging. Critical minerals are strategic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201168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Structural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Gold: $2,900+/oz — 30-year high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Critical minerals: $770B by 2030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73152" cy="2011680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Policy Acceleration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Australia: $4B committed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US IRA supply chain incentives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73152" cy="201168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Processing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&lt;5% of rare earth processing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70%+ gold capacity constrained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73152" cy="201168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  <a:latin typeface="Helvetica Neue"/>
              </a:defRPr>
            </a:pPr>
            <a:r>
              <a:t>Fragmented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1,000+ dormant QLD tenements</a:t>
            </a:r>
          </a:p>
          <a:p>
            <a:pPr>
              <a:spcBef>
                <a:spcPts val="400"/>
              </a:spcBef>
              <a:defRPr sz="1100">
                <a:solidFill>
                  <a:srgbClr val="646E7D"/>
                </a:solidFill>
                <a:latin typeface="Helvetica Neue"/>
              </a:defRPr>
            </a:pPr>
            <a:r>
              <a:t>• No integrated platforms exist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The Industry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Three structural failures creating an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Processing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Infrastructure bottlenecks</a:t>
            </a:r>
          </a:p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$50M+ typical plant capex</a:t>
            </a:r>
          </a:p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80% of juniors never produce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474720" cy="73152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Capital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Explorers lack funding</a:t>
            </a:r>
          </a:p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Ore sits waiting for offtake</a:t>
            </a:r>
          </a:p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Dilution destroys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74720" cy="73152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Fragmentation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No integrated platforms</a:t>
            </a:r>
          </a:p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Toll treatment = margin loss</a:t>
            </a:r>
          </a:p>
          <a:p>
            <a:pPr>
              <a:spcBef>
                <a:spcPts val="600"/>
              </a:spcBef>
              <a:defRPr sz="1300">
                <a:solidFill>
                  <a:srgbClr val="646E7D"/>
                </a:solidFill>
              </a:defRPr>
            </a:pPr>
            <a:r>
              <a:t>• Stranded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The MineralX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End-to-end mining and processing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6400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D2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Traditional Junior</a:t>
                      </a:r>
                    </a:p>
                  </a:txBody>
                  <a:tcPr>
                    <a:solidFill>
                      <a:srgbClr val="2D2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MineralX</a:t>
                      </a:r>
                    </a:p>
                  </a:txBody>
                  <a:tcPr>
                    <a:solidFill>
                      <a:srgbClr val="2D2D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Timeline to Revenue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7-10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828C"/>
                          </a:solidFill>
                        </a:defRPr>
                      </a:pPr>
                      <a:r>
                        <a:t>12-18 months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Capex Required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$50M–$150M+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828C"/>
                          </a:solidFill>
                        </a:defRPr>
                      </a:pPr>
                      <a:r>
                        <a:t>$5M–$15M modular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Processing Control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Third-party toll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828C"/>
                          </a:solidFill>
                        </a:defRPr>
                      </a:pPr>
                      <a:r>
                        <a:t>Owned infrastructure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Margin Profile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828C"/>
                          </a:solidFill>
                        </a:defRPr>
                      </a:pPr>
                      <a:r>
                        <a:t>60-70% integrated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Traction &amp;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ML 30139: Active gold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828C"/>
                </a:solidFill>
              </a:defRPr>
            </a:pPr>
            <a:r>
              <a:t>ML 30139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Current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</a:defRPr>
            </a:pPr>
            <a:r>
              <a:t>Active Mining Lease, Queensland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828C"/>
                </a:solidFill>
              </a:defRPr>
            </a:pPr>
            <a:r>
              <a:t>Pilot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</a:defRPr>
            </a:pPr>
            <a:r>
              <a:t>Gravity + CIL optimisation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828C"/>
                </a:solidFill>
              </a:defRPr>
            </a:pPr>
            <a:r>
              <a:t>12-18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</a:defRPr>
            </a:pPr>
            <a:r>
              <a:t>To commercial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828C"/>
                </a:solidFill>
              </a:defRPr>
            </a:pPr>
            <a:r>
              <a:t>Multiple EPMs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20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32"/>
                </a:solidFill>
              </a:defRPr>
            </a:pPr>
            <a:r>
              <a:t>Under LOI /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Three Integrated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Platform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2D32"/>
                </a:solidFill>
              </a:defRPr>
            </a:pPr>
            <a:r>
              <a:t>Mining &amp;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ML 30139 gold production</a:t>
            </a:r>
          </a:p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EPM consolidation</a:t>
            </a:r>
          </a:p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12-18 months to cash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474720" cy="73152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2D32"/>
                </a:solidFill>
              </a:defRPr>
            </a:pPr>
            <a:r>
              <a:t>Processing R&amp;D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Gravity + CIL optimisation</a:t>
            </a:r>
          </a:p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Modular plant design</a:t>
            </a:r>
          </a:p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Recovery improvements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828800"/>
            <a:ext cx="3474720" cy="73152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2D32"/>
                </a:solidFill>
              </a:defRPr>
            </a:pPr>
            <a:r>
              <a:t>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Modular processing units</a:t>
            </a:r>
          </a:p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Lower capex vs industry</a:t>
            </a:r>
          </a:p>
          <a:p>
            <a:pPr>
              <a:spcBef>
                <a:spcPts val="600"/>
              </a:spcBef>
              <a:defRPr sz="1200">
                <a:solidFill>
                  <a:srgbClr val="646E7D"/>
                </a:solidFill>
              </a:defRPr>
            </a:pPr>
            <a:r>
              <a:t>• Scalable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Capital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Clean ownership with strategic flexibility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D"/>
                </a:solidFill>
              </a:defRPr>
            </a:pPr>
            <a:r>
              <a:t>Shareholder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D"/>
                </a:solidFill>
              </a:defRPr>
            </a:pPr>
            <a:r>
              <a:t>Shares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D"/>
                </a:solidFill>
              </a:defRPr>
            </a:pPr>
            <a:r>
              <a:t>Pre-Dilution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D"/>
                </a:solidFill>
              </a:defRPr>
            </a:pPr>
            <a:r>
              <a:t>Fully Diluted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9728" cy="41148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Founder Holdings (Economic)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65M shares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560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109728" cy="41148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Founder SPV (Control)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5M shares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108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109728" cy="411480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Strategic Anchor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5M shares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3.85%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109728" cy="41148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062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ESOP 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10M shares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7.69%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754880"/>
            <a:ext cx="109728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54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Future Capital Reserve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20M shares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15.38%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The Investment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Strategic anchor partner for platform-scale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828C"/>
                </a:solidFill>
              </a:defRPr>
            </a:pPr>
            <a:r>
              <a:t>A$10,000,000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Raise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Two-tranche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828C"/>
                </a:solidFill>
              </a:defRPr>
            </a:pPr>
            <a:r>
              <a:t>A$200,000,000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Post-money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828C"/>
                </a:solidFill>
              </a:defRPr>
            </a:pPr>
            <a:r>
              <a:t>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5,000,000 shares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828C"/>
                </a:solidFill>
              </a:defRPr>
            </a:pPr>
            <a:r>
              <a:t>A$2.00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846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2D32"/>
                </a:solidFill>
              </a:defRPr>
            </a:pPr>
            <a:r>
              <a:t>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Per 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Use of Proceeds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Tranche A: $6M on signing | Tranche B: $4M on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657600" cy="2011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280160" cy="201168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Processing Plant Capex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35% ($3.5M)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3657600" cy="2011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1097280" cy="201168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Mining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30% ($3.0M)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3657600" cy="2011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731520" cy="201168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Acquisition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77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20% ($2.0M)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3657600" cy="2011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365760" cy="201168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434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Working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10% ($1.0M)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3657600" cy="2011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82880" cy="2011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Corporate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532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5% ($0.5M)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Founder-operator with technical and commercial track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D32"/>
                </a:solidFill>
              </a:defRPr>
            </a:pPr>
            <a:r>
              <a:t>Ayrton Mansi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28C"/>
                </a:solidFill>
              </a:defRPr>
            </a:pPr>
            <a: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</a:defRPr>
            </a:pPr>
            <a:r>
              <a:t>• Chemical engineering background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</a:defRPr>
            </a:pPr>
            <a:r>
              <a:t>• Hands-on mining &amp; processing experience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</a:defRPr>
            </a:pPr>
            <a:r>
              <a:t>• Property development track record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</a:defRPr>
            </a:pPr>
            <a:r>
              <a:t>• ML 30139 operator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Deployment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Phased execution from pilot to platform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28C"/>
                </a:solidFill>
              </a:defRPr>
            </a:pPr>
            <a:r>
              <a:t>PHASE 1: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Q1–Q2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Pilot processing operational</a:t>
            </a:r>
          </a:p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First gold pour</a:t>
            </a:r>
          </a:p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Toll treatment agreements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73152"/>
          </a:xfrm>
          <a:prstGeom prst="rect">
            <a:avLst/>
          </a:prstGeom>
          <a:solidFill>
            <a:srgbClr val="D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65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28C28"/>
                </a:solidFill>
              </a:defRPr>
            </a:pPr>
            <a:r>
              <a:t>PHASE 2: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Q3 2026–Q2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Commercial production ramp</a:t>
            </a:r>
          </a:p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EPM acquisitions</a:t>
            </a:r>
          </a:p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Processing expansion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828800"/>
            <a:ext cx="3474720" cy="73152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965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6E7D"/>
                </a:solidFill>
              </a:defRPr>
            </a:pPr>
            <a:r>
              <a:t>PHASE 3: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2860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2027+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Regional hub model</a:t>
            </a:r>
          </a:p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Multiple commodities</a:t>
            </a:r>
          </a:p>
          <a:p>
            <a:pPr>
              <a:spcBef>
                <a:spcPts val="600"/>
              </a:spcBef>
              <a:defRPr sz="1200">
                <a:solidFill>
                  <a:srgbClr val="2D2D32"/>
                </a:solidFill>
              </a:defRPr>
            </a:pPr>
            <a:r>
              <a:t>• Institutional capital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32"/>
                </a:solidFill>
                <a:latin typeface="Helvetica Neue"/>
              </a:defRPr>
            </a:pPr>
            <a: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E7D"/>
                </a:solidFill>
                <a:latin typeface="Helvetica Neue"/>
              </a:defRPr>
            </a:pPr>
            <a:r>
              <a:t>First-mover platform in fragmented Australian mining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65960"/>
            <a:ext cx="109728" cy="109728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32"/>
                </a:solidFill>
              </a:defRPr>
            </a:pPr>
            <a:r>
              <a:t>A$10M raise at A$200M post-money — 5% strategic equity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97480"/>
            <a:ext cx="109728" cy="109728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32"/>
                </a:solidFill>
              </a:defRPr>
            </a:pPr>
            <a:r>
              <a:t>Active production asset: ML 30139 with clear expansion path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29000"/>
            <a:ext cx="109728" cy="109728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32"/>
                </a:solidFill>
              </a:defRPr>
            </a:pPr>
            <a:r>
              <a:t>12-18 months to commercial revenue vs. 7-10 years industry standard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32"/>
                </a:solidFill>
              </a:defRPr>
            </a:pPr>
            <a:r>
              <a:t>Integrated model: 60-70% margins vs. 30-40% toll treatment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92040"/>
            <a:ext cx="109728" cy="109728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32"/>
                </a:solidFill>
              </a:defRPr>
            </a:pPr>
            <a:r>
              <a:t>Consolidation opportunity: 1,000+ dormant tenements in target 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28C"/>
                </a:solidFill>
              </a:defRPr>
            </a:pPr>
            <a:r>
              <a:t>Ayrton Mansi | ayrton@mineral-x.com.au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