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F2937"/>
                </a:solidFill>
                <a:latin typeface="Calibri"/>
              </a:defRPr>
            </a:pPr>
            <a:r>
              <a:t>MINERALX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843"/>
                </a:solidFill>
                <a:latin typeface="Calibri"/>
              </a:defRPr>
            </a:pPr>
            <a:r>
              <a:t>Integrated Mining &amp; Processing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  <a:latin typeface="Calibri"/>
              </a:defRPr>
            </a:pPr>
            <a:r>
              <a:t>Strategic Fund Vision Deck | Confidential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D4A843"/>
                </a:solidFill>
                <a:latin typeface="Calibri"/>
              </a:defRPr>
            </a:pPr>
            <a:r>
              <a:t>Structural demand meets infrastructure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56032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Structural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Gold at $2,900+/oz (30-year highs). Critical minerals market projected $770B by 2030. Multi-decade demand from electrification, AI infrastructure, energy storage.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011680"/>
            <a:ext cx="256032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Policy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83464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Australia's Critical Minerals Strategy: $4B+ committed. US IRA incentives. OECD supply chain security mandates prioritise domestic processing.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256032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Processing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83464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Mining output constrained by processing infrastructure, not geology. &lt;5% of global REE processing capacity in Australia.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011680"/>
            <a:ext cx="256032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Fragmented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3464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1,000+ dormant gold tenements in QLD. Fragmented ownership, no processing access. Consolidation-ready.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Value is Structurally Trapped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D4A843"/>
                </a:solidFill>
                <a:latin typeface="Calibri"/>
              </a:defRPr>
            </a:pPr>
            <a:r>
              <a:t>The global race for critical minerals is driven by structural demand from electrification, energy storage, and strategic supply chain policy — creating multi-decade growth tailwinds for companies that can deliver integrated processing, consolidation, and scalable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32004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Fragmented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Mineral districts divided across multiple small operators with limited capital. Economies of scale remain unrealised.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926080"/>
            <a:ext cx="32004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1089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Long Lead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84048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Traditional development requires 5-10 years to first production. Capital inefficiently allocated based on speculation.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2926080"/>
            <a:ext cx="32004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1089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No Processing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84048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Junior miners lack capital for processing infrastructure. Ore sits in the ground waiting for offtake.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  <a:latin typeface="Calibri"/>
              </a:defRPr>
            </a:pPr>
            <a:r>
              <a:t>The MineralX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4A843"/>
                </a:solidFill>
                <a:latin typeface="Calibri"/>
              </a:defRPr>
            </a:pPr>
            <a:r>
              <a:t>Processing infrastructure to consolidate fragmented mineral districts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274320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274320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874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MineralX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274320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874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Traditional Junior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377440"/>
            <a:ext cx="2743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/>
              </a:defRPr>
            </a:pPr>
            <a:r>
              <a:t>Time to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377440"/>
            <a:ext cx="2743200" cy="548640"/>
          </a:xfrm>
          <a:prstGeom prst="rect">
            <a:avLst/>
          </a:prstGeom>
          <a:solidFill>
            <a:srgbClr val="D4A843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12-18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37744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  <a:latin typeface="Calibri"/>
              </a:defRPr>
            </a:pPr>
            <a:r>
              <a:t>5-10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926080"/>
            <a:ext cx="2743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971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/>
              </a:defRPr>
            </a:pPr>
            <a:r>
              <a:t>Processing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926080"/>
            <a:ext cx="2743200" cy="548640"/>
          </a:xfrm>
          <a:prstGeom prst="rect">
            <a:avLst/>
          </a:prstGeom>
          <a:solidFill>
            <a:srgbClr val="D4A843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971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Pilot + toll treatment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92608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971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  <a:latin typeface="Calibri"/>
              </a:defRPr>
            </a:pPr>
            <a:r>
              <a:t>Offtake dependent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474720"/>
            <a:ext cx="2743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520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/>
              </a:defRPr>
            </a:pPr>
            <a:r>
              <a:t>Capital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474720"/>
            <a:ext cx="2743200" cy="548640"/>
          </a:xfrm>
          <a:prstGeom prst="rect">
            <a:avLst/>
          </a:prstGeom>
          <a:solidFill>
            <a:srgbClr val="D4A843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20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Modular, incremental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4747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520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  <a:latin typeface="Calibri"/>
              </a:defRPr>
            </a:pPr>
            <a:r>
              <a:t>Binary, monolithic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023360"/>
            <a:ext cx="2743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069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/>
              </a:defRPr>
            </a:pPr>
            <a:r>
              <a:t>Scale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023360"/>
            <a:ext cx="2743200" cy="548640"/>
          </a:xfrm>
          <a:prstGeom prst="rect">
            <a:avLst/>
          </a:prstGeom>
          <a:solidFill>
            <a:srgbClr val="D4A843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069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Regional consolidation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402336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4069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  <a:latin typeface="Calibri"/>
              </a:defRPr>
            </a:pPr>
            <a:r>
              <a:t>Single asset focus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572000"/>
            <a:ext cx="2743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617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/>
              </a:defRPr>
            </a:pPr>
            <a:r>
              <a:t>Cash Flow 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572000"/>
            <a:ext cx="2743200" cy="548640"/>
          </a:xfrm>
          <a:prstGeom prst="rect">
            <a:avLst/>
          </a:prstGeom>
          <a:solidFill>
            <a:srgbClr val="D4A843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617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Parallel mining + exploration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457200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4617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  <a:latin typeface="Calibri"/>
              </a:defRPr>
            </a:pPr>
            <a:r>
              <a:t>Sequential development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F2937"/>
                </a:solidFill>
                <a:latin typeface="Calibri"/>
              </a:defRPr>
            </a:pPr>
            <a:r>
              <a:t>MineralX consolidates fragmented Australian mineral districts through processing access, generating near-term cash flow while building long-term district-scale positions.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Current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  <a:r>
              <a:t>• ML 30139: Active gold mining lease, Queensland</a:t>
            </a: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  <a:r>
              <a:t>• Pilot processing: Gravity concentration operational</a:t>
            </a: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  <a:r>
              <a:t>• Toll treatment: Third-party processing agreements in pipeline</a:t>
            </a: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  <a:r>
              <a:t>• Assay data confirming grades</a:t>
            </a: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  <a:r>
              <a:t>• Processing expertise: Chemical engineering + hands-on metallurgical experience</a:t>
            </a: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2000">
                <a:solidFill>
                  <a:srgbClr val="1F2937"/>
                </a:solidFill>
                <a:latin typeface="Calibri"/>
              </a:defRPr>
            </a:pPr>
            <a:r>
              <a:t>• Multiple EPMs under consolidation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3"/>
                </a:solidFill>
                <a:latin typeface="Calibri"/>
              </a:defRPr>
            </a:pPr>
            <a:r>
              <a:t>Systematic consolidation of underexplored mining districts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Underexplored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Historic mining districts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Limited modern exploration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Infrastructure constraints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Fragmented tenement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Historic Mining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Known mineralisation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Existing infrastructure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Environmental permits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Community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Strategic Acquisitions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Distressed asset opportunities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Processing synergies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Vertical integration</a:t>
            </a:r>
          </a:p>
          <a:p>
            <a:pPr algn="l">
              <a:defRPr sz="1400">
                <a:solidFill>
                  <a:srgbClr val="1F2937"/>
                </a:solidFill>
                <a:latin typeface="Calibri"/>
              </a:defRPr>
            </a:pPr>
            <a:r>
              <a:t>• Scale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Pipeline: Multiple tenements under active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3"/>
                </a:solidFill>
                <a:latin typeface="Calibri"/>
              </a:defRPr>
            </a:pPr>
            <a:r>
              <a:t>Mining, R&amp;D, and Manufacturing as integrated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solidFill>
            <a:srgbClr val="F8FAFC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Mining &amp;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A843"/>
                </a:solidFill>
                <a:latin typeface="Calibri"/>
              </a:defRPr>
            </a:pPr>
            <a:r>
              <a:t>Fast Track to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Gold &amp; silver production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Critical minerals exploration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Parallel development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Processing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200400" cy="3657600"/>
          </a:xfrm>
          <a:prstGeom prst="rect">
            <a:avLst/>
          </a:prstGeom>
          <a:solidFill>
            <a:srgbClr val="F8FAFC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R&amp;D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A843"/>
                </a:solidFill>
                <a:latin typeface="Calibri"/>
              </a:defRPr>
            </a:pPr>
            <a:r>
              <a:t>Critical Demand for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10896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Leaching optimization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REE processing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Mining automation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Intellectual property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828800"/>
            <a:ext cx="3200400" cy="3657600"/>
          </a:xfrm>
          <a:prstGeom prst="rect">
            <a:avLst/>
          </a:prstGeom>
          <a:solidFill>
            <a:srgbClr val="F8FAFC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603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A843"/>
                </a:solidFill>
                <a:latin typeface="Calibri"/>
              </a:defRPr>
            </a:pPr>
            <a:r>
              <a:t>Supply Chain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0896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Modular processing plants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Standardised deployment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Unit economics</a:t>
            </a:r>
          </a:p>
          <a:p>
            <a:pPr algn="l">
              <a:defRPr sz="1200">
                <a:solidFill>
                  <a:srgbClr val="1F2937"/>
                </a:solidFill>
                <a:latin typeface="Calibri"/>
              </a:defRPr>
            </a:pPr>
            <a:r>
              <a:t>• Scalable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Integrated platform creates competitive moats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Mining &amp;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914400"/>
            <a:ext cx="4023360" cy="1097280"/>
          </a:xfrm>
          <a:prstGeom prst="rect">
            <a:avLst/>
          </a:prstGeom>
          <a:solidFill>
            <a:srgbClr val="D4A84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0972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12-18 months to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1828800" cy="731520"/>
          </a:xfrm>
          <a:prstGeom prst="rect">
            <a:avLst/>
          </a:prstGeom>
          <a:solidFill>
            <a:srgbClr val="1F29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337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Pilot Processing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3566160"/>
            <a:ext cx="228600" cy="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74720" y="3200400"/>
            <a:ext cx="1828800" cy="731520"/>
          </a:xfrm>
          <a:prstGeom prst="rect">
            <a:avLst/>
          </a:prstGeom>
          <a:solidFill>
            <a:srgbClr val="1F29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337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Toll Treatment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0" y="3566160"/>
            <a:ext cx="228600" cy="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577840" y="3200400"/>
            <a:ext cx="1828800" cy="731520"/>
          </a:xfrm>
          <a:prstGeom prst="rect">
            <a:avLst/>
          </a:prstGeom>
          <a:solidFill>
            <a:srgbClr val="1F29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337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Dynamic Routing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3566160"/>
            <a:ext cx="228600" cy="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80960" y="3200400"/>
            <a:ext cx="1828800" cy="731520"/>
          </a:xfrm>
          <a:prstGeom prst="rect">
            <a:avLst/>
          </a:prstGeom>
          <a:solidFill>
            <a:srgbClr val="1F29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337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 to Cash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0" y="3566160"/>
            <a:ext cx="228600" cy="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784080" y="3200400"/>
            <a:ext cx="1828800" cy="731520"/>
          </a:xfrm>
          <a:prstGeom prst="rect">
            <a:avLst/>
          </a:prstGeom>
          <a:solidFill>
            <a:srgbClr val="1F29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337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Parallel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F2937"/>
                </a:solidFill>
                <a:latin typeface="Calibri"/>
              </a:defRPr>
            </a:pPr>
            <a:r>
              <a:t>Integrated approach reduces time-to-cash through processing access while building long-term exploration pipeline. Parallel development maximizes resource utilization and cash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Leaching Optimization: Advanced hydrometallurgical processes for complex ore bodies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REE Processing: Domestic rare earth element separation and purification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Mining Automation: Remote operations and process optimization systems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Process IP: Proprietary techniques for mineral extraction and processing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R&amp;D funded by operations + government grants. Targeting significant non-dilutive funding.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Modularity: Pre-fabricated processing units for rapid deployment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Standardisation: Proven designs reduce engineering risk and cost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Deployment Speed: 6-12 month installation vs 2-3 years traditional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Unit Economics: Optimized for Australian mineral characteristics and logistics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Gold: Global market $230B+, Australia 2nd largest producer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Critical Minerals: $770B by 2030, supply deficit growing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Processing Gap: Domestic capacity insufficient for demand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QLD Opportunity: Fragmented districts ripe for consolidation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Structural supply-demand imbalance creates multi-decade growth opportunity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Commodities &amp; Consolidation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Gold &amp; Silver: Immediate liquidity, proven metallurgy, 12-18 month path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Critical Minerals &amp; REEs: Structural demand, longer timeline offset by gold cashflow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Consolidation Strategy: Targeting fragmented districts, processing as lever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Acquisition Criteria: Proven mineralisation, fragmented ownership, no processing access, district-scale potential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Capital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1. Operating Cash Flow → Self-funded growth from gold production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2. NSR/Royalties → Asset-backed financing for expansion projects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3. Project-Level Debt → Non-recourse debt for large infrastructure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4. Strategic Equity → Partnership capital for platform scaling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Diversified capital structure minimizes dilution while funding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843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534095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7619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Raise: AUD $10,000,000 | Equity: 5% at $200M post-money valuation</a:t>
            </a:r>
          </a:p>
          <a:p>
            <a:r>
              <a:t>Structure: Two-tranche ($6M signing + $4M milestone)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Use of Proceeds: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• Processing plant &amp; equipment: 40%    • Mining operations &amp; working capital: 25%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• Exploration &amp; resource development: 15%    • Acquisitions &amp; consolidation: 15%    • Corporate &amp; G&amp;A: 5%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Investor Rights: Board observer rights, quarterly reporting, pro-rata rights on future rounds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Structural Tailwinds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3"/>
                </a:solidFill>
                <a:latin typeface="Calibri"/>
              </a:defRPr>
            </a:pPr>
            <a:r>
              <a:t>Government co-funding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Exploration Grants: GEOVIC, Collaborative Drilling Program, Junior Minerals Exploration Incentive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Processing Incentives: Critical Minerals Facility loans, Regional Investment Corporation funding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R&amp;D Funding: R&amp;D Tax Incentive (43.5%), CRC-P grants, ARENA technology development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Strategic Alignment: Australia's Critical Minerals Strategy, supply chain security mandates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Deployment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Q1-Q4 2026: Initial Operations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→ Pilot plant operational, toll treatment partnerships, early cash flow generation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Q1-Q4 2027: District Consolidation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→ Strategic acquisitions, commercial scale processing, second plant deployment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2028+: Multi-District Platform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→ Multiple concurrent operations, standardised deployments, established market position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Ayrton Mansi — Founder &amp; CEO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Chemical engineering background with process design expertise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Hands-on mining &amp; processing operational experience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Proven property development and project management track record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• Current operator of ML 30139 gold mining lease</a:t>
            </a: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algn="l">
              <a:defRPr sz="1600">
                <a:solidFill>
                  <a:srgbClr val="1F2937"/>
                </a:solidFill>
                <a:latin typeface="Calibri"/>
              </a:defRPr>
            </a:pPr>
            <a:r>
              <a:t>(Advisory board and key hires to be announced)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D4A843"/>
                </a:solidFill>
                <a:latin typeface="Calibri"/>
              </a:defRPr>
            </a:pPr>
            <a:r>
              <a:t>MINERALX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Calibri"/>
              </a:defRPr>
            </a:pPr>
            <a:r>
              <a:t>Integrated Mining &amp; Processing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Calibri"/>
              </a:defRPr>
            </a:pPr>
            <a:r>
              <a:t>• Processing infrastructure as the consolidation lever</a:t>
            </a:r>
          </a:p>
          <a:p>
            <a:pPr algn="l">
              <a:defRPr sz="1800">
                <a:solidFill>
                  <a:srgbClr val="FFFFFF"/>
                </a:solidFill>
                <a:latin typeface="Calibri"/>
              </a:defRPr>
            </a:pPr>
            <a:r>
              <a:t>• Near-term gold cashflow funds long-term platform value  </a:t>
            </a:r>
          </a:p>
          <a:p>
            <a:pPr algn="l">
              <a:defRPr sz="1800">
                <a:solidFill>
                  <a:srgbClr val="FFFFFF"/>
                </a:solidFill>
                <a:latin typeface="Calibri"/>
              </a:defRPr>
            </a:pPr>
            <a:r>
              <a:t>• First-mover in fragmented Australian mineral districts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4A843"/>
                </a:solidFill>
                <a:latin typeface="Calibri"/>
              </a:defRPr>
            </a:pPr>
            <a:r>
              <a:t>Contact: Ayrton Mansi | ayrton@mineral-x.com.au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Confidential |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