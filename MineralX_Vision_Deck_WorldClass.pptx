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D2D32"/>
                </a:solidFill>
                <a:latin typeface="Helvetica Neue"/>
              </a:defRPr>
            </a:pPr>
            <a:r>
              <a:t>MINERALX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E7D"/>
                </a:solidFill>
                <a:latin typeface="Helvetica Neue"/>
              </a:defRPr>
            </a:pPr>
            <a:r>
              <a:t>Integrated Mining &amp; Processing Platform</a:t>
            </a:r>
            <a:br/>
            <a:r>
              <a:t>Strategic Fund Vision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9C3"/>
                </a:solidFill>
                <a:latin typeface="Helvetica Neue"/>
              </a:defRPr>
            </a:pPr>
            <a:r>
              <a:t>CONFIDENTIAL | FEBRUARY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Precious metals demand is surging. Critical minerals are strategic infrastructure.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" cy="2011680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Structural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Gold: $2,900+/oz — 30-year high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Critical minerals market: $770B by 2030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Supply deficits across key commodities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73152" cy="2011680"/>
          </a:xfrm>
          <a:prstGeom prst="rect">
            <a:avLst/>
          </a:prstGeom>
          <a:solidFill>
            <a:srgbClr val="D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Policy Acceleration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Australia Critical Minerals Strategy: $4B committed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US IRA incentives for domestic supply chains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Export restrictions driving onshoring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73152" cy="201168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Processing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Australia: &lt;5% of global rare earth processing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70%+ of gold processing at capacity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Junior miners waiting 7-10 years for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73152" cy="2011680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Fragmented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1,000+ dormant gold tenements in QLD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No integrated processing platforms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Acquisition targets at distressed valuations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The Industry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Three structural failures creating an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Processing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Helvetica Neue"/>
              </a:defRPr>
            </a:pPr>
            <a:r>
              <a:t>• Infrastructure bottleneck strangles supply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Helvetica Neue"/>
              </a:defRPr>
            </a:pPr>
            <a:r>
              <a:t>• $50M+ typical plant capex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Helvetica Neue"/>
              </a:defRPr>
            </a:pPr>
            <a:r>
              <a:t>• 80% of juniors never reach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3474720" cy="73152"/>
          </a:xfrm>
          <a:prstGeom prst="rect">
            <a:avLst/>
          </a:prstGeom>
          <a:solidFill>
            <a:srgbClr val="D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Capital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Helvetica Neue"/>
              </a:defRPr>
            </a:pPr>
            <a:r>
              <a:t>• Explorers lack funding for development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Helvetica Neue"/>
              </a:defRPr>
            </a:pPr>
            <a:r>
              <a:t>• Ore sits in ground waiting for offtake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Helvetica Neue"/>
              </a:defRPr>
            </a:pPr>
            <a:r>
              <a:t>• Dilution destroys shareholder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474720" cy="73152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Fragmentation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Helvetica Neue"/>
              </a:defRPr>
            </a:pPr>
            <a:r>
              <a:t>• No integrated platforms exist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Helvetica Neue"/>
              </a:defRPr>
            </a:pPr>
            <a:r>
              <a:t>• Toll treatment = margin compression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Helvetica Neue"/>
              </a:defRPr>
            </a:pPr>
            <a:r>
              <a:t>• Stranded assets across Australia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The MineralX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End-to-end mining and processing — from ore to offtake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10332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D2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Traditional Junior Miner</a:t>
                      </a:r>
                    </a:p>
                  </a:txBody>
                  <a:tcPr>
                    <a:solidFill>
                      <a:srgbClr val="2D2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MineralX Platform</a:t>
                      </a:r>
                    </a:p>
                  </a:txBody>
                  <a:tcPr>
                    <a:solidFill>
                      <a:srgbClr val="2D2D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D2D32"/>
                          </a:solidFill>
                        </a:defRPr>
                      </a:pPr>
                      <a:r>
                        <a:t>Timeline to Revenue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E7D"/>
                          </a:solidFill>
                        </a:defRPr>
                      </a:pPr>
                      <a:r>
                        <a:t>7-10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828C"/>
                          </a:solidFill>
                        </a:defRPr>
                      </a:pPr>
                      <a:r>
                        <a:t>12-18 months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D2D32"/>
                          </a:solidFill>
                        </a:defRPr>
                      </a:pPr>
                      <a:r>
                        <a:t>Capex Required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E7D"/>
                          </a:solidFill>
                        </a:defRPr>
                      </a:pPr>
                      <a:r>
                        <a:t>$50M–$150M+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828C"/>
                          </a:solidFill>
                        </a:defRPr>
                      </a:pPr>
                      <a:r>
                        <a:t>$5M–$15M modular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D2D32"/>
                          </a:solidFill>
                        </a:defRPr>
                      </a:pPr>
                      <a:r>
                        <a:t>Processing Control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E7D"/>
                          </a:solidFill>
                        </a:defRPr>
                      </a:pPr>
                      <a:r>
                        <a:t>Third-party toll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828C"/>
                          </a:solidFill>
                        </a:defRPr>
                      </a:pPr>
                      <a:r>
                        <a:t>Owned infrastructure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D2D32"/>
                          </a:solidFill>
                        </a:defRPr>
                      </a:pPr>
                      <a:r>
                        <a:t>Margin Profile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E7D"/>
                          </a:solidFill>
                        </a:defRPr>
                      </a:pPr>
                      <a:r>
                        <a:t>30-40% (toll costs)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828C"/>
                          </a:solidFill>
                        </a:defRPr>
                      </a:pPr>
                      <a:r>
                        <a:t>60-70% (integrated)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D2D32"/>
                          </a:solidFill>
                        </a:defRPr>
                      </a:pPr>
                      <a:r>
                        <a:t>Risk Profile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E7D"/>
                          </a:solidFill>
                        </a:defRPr>
                      </a:pPr>
                      <a:r>
                        <a:t>High dilution, low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828C"/>
                          </a:solidFill>
                        </a:defRPr>
                      </a:pPr>
                      <a:r>
                        <a:t>Asset-backed, founder-controlled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Traction &amp; 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ML 30139: Active gold production with clear expansion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28C"/>
                </a:solidFill>
                <a:latin typeface="Helvetica Neue"/>
              </a:defRPr>
            </a:pPr>
            <a:r>
              <a:t>ML 30139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Helvetica Neue"/>
              </a:defRPr>
            </a:pPr>
            <a:r>
              <a:t>Current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32"/>
                </a:solidFill>
                <a:latin typeface="Helvetica Neue"/>
              </a:defRPr>
            </a:pPr>
            <a:r>
              <a:t>Active Mining Lease, Queensland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  <a:latin typeface="Helvetica Neue"/>
              </a:defRPr>
            </a:pPr>
            <a:r>
              <a:t>Gold production underway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28C"/>
                </a:solidFill>
                <a:latin typeface="Helvetica Neue"/>
              </a:defRPr>
            </a:pPr>
            <a:r>
              <a:t>Pilot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Helvetica Neue"/>
              </a:defRPr>
            </a:pPr>
            <a: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32"/>
                </a:solidFill>
                <a:latin typeface="Helvetica Neue"/>
              </a:defRPr>
            </a:pPr>
            <a:r>
              <a:t>Gravity + CIL optimisation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  <a:latin typeface="Helvetica Neue"/>
              </a:defRPr>
            </a:pPr>
            <a:r>
              <a:t>Targeting Q2 2026 commercial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28C"/>
                </a:solidFill>
                <a:latin typeface="Helvetica Neue"/>
              </a:defRPr>
            </a:pPr>
            <a:r>
              <a:t>Multiple EPMs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Helvetica Neue"/>
              </a:defRPr>
            </a:pPr>
            <a:r>
              <a:t>Tenement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32"/>
                </a:solidFill>
                <a:latin typeface="Helvetica Neue"/>
              </a:defRPr>
            </a:pPr>
            <a:r>
              <a:t>Under LOI /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  <a:latin typeface="Helvetica Neue"/>
              </a:defRPr>
            </a:pPr>
            <a:r>
              <a:t>Consolidation strategy in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28C"/>
                </a:solidFill>
                <a:latin typeface="Helvetica Neue"/>
              </a:defRPr>
            </a:pPr>
            <a:r>
              <a:t>12-18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Helvetica Neue"/>
              </a:defRPr>
            </a:pPr>
            <a:r>
              <a:t>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29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32"/>
                </a:solidFill>
                <a:latin typeface="Helvetica Neue"/>
              </a:defRPr>
            </a:pPr>
            <a:r>
              <a:t>To commercial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029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  <a:latin typeface="Helvetica Neue"/>
              </a:defRPr>
            </a:pPr>
            <a:r>
              <a:t>Toll treatment agreements in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